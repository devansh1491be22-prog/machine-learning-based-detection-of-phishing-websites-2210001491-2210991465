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12"/>
  </p:notesMasterIdLst>
  <p:sldIdLst>
    <p:sldId id="265" r:id="rId2"/>
    <p:sldId id="271" r:id="rId3"/>
    <p:sldId id="256" r:id="rId4"/>
    <p:sldId id="257" r:id="rId5"/>
    <p:sldId id="268" r:id="rId6"/>
    <p:sldId id="270" r:id="rId7"/>
    <p:sldId id="273" r:id="rId8"/>
    <p:sldId id="274" r:id="rId9"/>
    <p:sldId id="275" r:id="rId10"/>
    <p:sldId id="269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9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1770" y="-85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52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10E38B2-AD91-6679-3E42-6B9A9CF33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E2EEFFB-86E7-A3F8-642E-0DD66C90E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6C0107C-A87E-1357-FAF9-E8044DBC5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9F1E79F-5B2C-8AE3-3718-DAC37D9A3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5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91293C-2979-0CAA-8E09-E1949D78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F35E7B8-52C3-AABF-6AC7-4C800AD41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CFC02A5-C897-C5CE-7295-7EF6793A3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137AA79-A05A-C230-B68A-94668F6932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40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9867E8-D84D-EA0F-C0B2-D19EDA9A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4A7DC29-B0A5-BAA3-6348-EBF8F80DA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6F297FB-692D-1477-B66A-9CA5C1C5A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CE26ECB-EBE5-42F0-8586-AC85505F8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89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F0DCC21-C6EF-2884-47DF-A91C480BA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F0C10F3-2AC8-AF85-2224-D9C2EDC50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07C5D2B-DB87-937D-BB18-698C81876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17E86B3-D4A5-FFD7-BC48-64558138A1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70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B8652AA-C61E-8D15-9134-59A48E02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BEB874C-00CA-76F2-5574-EB4BB63CE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5E22258-1145-ABC1-334E-4D33A0CDB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2F4977-2900-C2AC-9FD5-77B3C1BA13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8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FB7B728-210B-CF4D-409B-CFE28C28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9944A54-4044-4FCB-151F-0634F0FEC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9E2D02C-C1DE-A3A0-F948-DD0E3185B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62B12A3-7357-5F65-82F3-3312F6762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10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EF6FC0-E3E6-F5BE-1653-0F186D96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9DE2482-666F-CF4D-D56A-E4C3987DD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5E9B194-E60E-D50D-96F2-DBC0641A4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49ADDD5-9D01-048A-357E-EB51C9AD5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83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1986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731520" y="1925424"/>
            <a:ext cx="13166784" cy="477273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840" b="0" strike="noStrike" spc="-1">
                <a:latin typeface="Arial"/>
              </a:rPr>
              <a:t>Click to edit Master subtitle style</a:t>
            </a:r>
            <a:endParaRPr lang="en-GB" sz="384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58921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13166784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24504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526291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5542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8777664" cy="508593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840" b="0" strike="noStrike" spc="-1">
                <a:latin typeface="Arial"/>
              </a:rPr>
              <a:t>Click to edit Master subtitle style</a:t>
            </a:r>
            <a:endParaRPr lang="en-GB" sz="384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6212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731520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93187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7478784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8908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731520" y="4418496"/>
            <a:ext cx="13166784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089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13166784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731520" y="4418496"/>
            <a:ext cx="13166784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15492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731520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7478784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41627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83424" y="1925424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9635328" y="1925424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731520" y="4418496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5183424" y="4418496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9635328" y="4418496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857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39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14629824" cy="1005264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8045568"/>
            <a:ext cx="14629824" cy="237168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10484928" y="274320"/>
            <a:ext cx="3291264" cy="761616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10484928" y="274320"/>
            <a:ext cx="3291264" cy="761616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9834624" y="0"/>
            <a:ext cx="4795200" cy="1051056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6"/>
          <a:stretch/>
        </p:blipFill>
        <p:spPr>
          <a:xfrm>
            <a:off x="10484928" y="274320"/>
            <a:ext cx="3072960" cy="730944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10484928" y="274320"/>
            <a:ext cx="3291264" cy="761616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9834624" y="0"/>
            <a:ext cx="4795200" cy="1051056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6"/>
          <a:stretch/>
        </p:blipFill>
        <p:spPr>
          <a:xfrm>
            <a:off x="10484928" y="274320"/>
            <a:ext cx="3072960" cy="730944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10362816" cy="100526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731520" y="1645920"/>
            <a:ext cx="13166784" cy="5430672"/>
          </a:xfrm>
          <a:prstGeom prst="rect">
            <a:avLst/>
          </a:prstGeom>
        </p:spPr>
        <p:txBody>
          <a:bodyPr>
            <a:noAutofit/>
          </a:bodyPr>
          <a:lstStyle/>
          <a:p>
            <a:pPr marL="411696" lvl="0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</a:p>
          <a:p>
            <a:pPr marL="411696" lvl="1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</a:p>
          <a:p>
            <a:pPr marL="411696" lvl="2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</a:p>
          <a:p>
            <a:pPr marL="411696" lvl="3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</a:p>
          <a:p>
            <a:pPr marL="411696" lvl="4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731520" y="7627824"/>
            <a:ext cx="3413376" cy="43761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fld id="{E6F7824F-FEE6-4FA6-87FA-56806D70CA3A}" type="datetimeFigureOut">
              <a:rPr lang="en-IN" smtClean="0"/>
              <a:pPr/>
              <a:t>14-05-2026</a:t>
            </a:fld>
            <a:endParaRPr lang="en-IN"/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4998528" y="7627824"/>
            <a:ext cx="4632192" cy="43761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IN"/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10484928" y="7627824"/>
            <a:ext cx="3413376" cy="43761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82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8" r:id="rId13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593005-BBB0-579B-90F9-8C5647422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xmlns="" id="{49FD5CD0-9B3C-5192-CD4A-91D86058E433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xmlns="" id="{EB36C1D1-708A-7023-5A82-FCC4041A6094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xmlns="" id="{44EF5A52-F063-BD98-11B9-841A56FCA7E9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xmlns="" id="{4713A65E-294C-5441-4122-662B5E2AF676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xmlns="" id="{6D658D78-D16E-28A0-374D-168B40B8B997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xmlns="" id="{92F794D3-5BD8-4C23-EBB2-ABECE429603E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C3CA7EA-8E90-3ABA-449F-757D94597793}"/>
              </a:ext>
            </a:extLst>
          </p:cNvPr>
          <p:cNvSpPr txBox="1"/>
          <p:nvPr/>
        </p:nvSpPr>
        <p:spPr>
          <a:xfrm>
            <a:off x="1360449" y="1347484"/>
            <a:ext cx="11664175" cy="6796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Paper Presentation of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IOHE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Machine Learning-Based Detection of Phishing Websites Using                                                                                                                               URL , Domain, and Webpage Features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Chirag Mittal (2210991465) | Devansh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Anthal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(2210991491)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Shikha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/>
              <a:t>Associate</a:t>
            </a:r>
            <a:r>
              <a:rPr lang="en-US" smtClean="0">
                <a:solidFill>
                  <a:srgbClr val="1A1A1A"/>
                </a:solidFill>
              </a:rPr>
              <a:t> </a:t>
            </a:r>
            <a:r>
              <a:rPr lang="en-US" dirty="0">
                <a:solidFill>
                  <a:srgbClr val="1A1A1A"/>
                </a:solidFill>
              </a:rPr>
              <a:t>Professor, Chitkara University</a:t>
            </a: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476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A6D2B3F-DBB7-B245-AB19-18EAC22A8BD3}"/>
              </a:ext>
            </a:extLst>
          </p:cNvPr>
          <p:cNvSpPr txBox="1"/>
          <p:nvPr/>
        </p:nvSpPr>
        <p:spPr>
          <a:xfrm>
            <a:off x="123290" y="1119264"/>
            <a:ext cx="12318715" cy="1677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C0000"/>
                </a:solidFill>
              </a:rPr>
              <a:t>Why Phishing Detection Needs a Smarter Approach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Growing Threat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solidFill>
                  <a:srgbClr val="555555"/>
                </a:solidFill>
              </a:rPr>
              <a:t>Over 4.7 million phishing attacks were recorded in 2022 — a 150% increase from 2019. Attackers create fake websites mimicking banks and e-commerce sites to steal credentials and financial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1A1A1A"/>
                </a:solidFill>
              </a:rPr>
              <a:t>Blacklists Are Not Enough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solidFill>
                  <a:srgbClr val="555555"/>
                </a:solidFill>
              </a:rPr>
              <a:t>Blacklist-based systems fail against newly created phishing domains active for only 24–48 hours. By the time a site is added to a blacklist, it may have already victimized thousands.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1A1A1A"/>
                </a:solidFill>
              </a:rPr>
              <a:t>Machine Learning as the Solution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solidFill>
                  <a:srgbClr val="555555"/>
                </a:solidFill>
              </a:rPr>
              <a:t>ML models can detect previously unseen phishing websites using intrinsic features — without relying on blacklists — making them suitable for real-time deployment as browser extensions or network filters.</a:t>
            </a:r>
            <a:endParaRPr lang="en-US" sz="2400" dirty="0"/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82188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F915D4-6654-4D76-931F-50D4152FDC6C}"/>
              </a:ext>
            </a:extLst>
          </p:cNvPr>
          <p:cNvSpPr txBox="1"/>
          <p:nvPr/>
        </p:nvSpPr>
        <p:spPr>
          <a:xfrm>
            <a:off x="143838" y="1271239"/>
            <a:ext cx="13894546" cy="849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555555"/>
                </a:solidFill>
              </a:rPr>
              <a:t>Most phishing detection systems rely on blacklists which are inherently reactive — ineffective against new domains active for only 24–48 hours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Existing ML models need a complete pipeline: feature extraction from URL structure, domain registration metadata, and HTML/JavaScript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55555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Minimizing false negatives (missed phishing sites) is the primary security objective, as undetected phishing causes direct financial harm.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55555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High-performing models must be computationally efficient and deployable as real-time browser extensions or network-level filters.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55555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A standardized and reproducible benchmark evaluation of multiple classifiers on the same dataset under identical conditions is lacking</a:t>
            </a:r>
            <a:r>
              <a:rPr lang="en-US" sz="2000" dirty="0">
                <a:solidFill>
                  <a:srgbClr val="555555"/>
                </a:solidFill>
              </a:rPr>
              <a:t>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1987AE-020D-9FEC-BC5B-27F5D14A5EEC}"/>
              </a:ext>
            </a:extLst>
          </p:cNvPr>
          <p:cNvSpPr txBox="1"/>
          <p:nvPr/>
        </p:nvSpPr>
        <p:spPr>
          <a:xfrm>
            <a:off x="486831" y="1018876"/>
            <a:ext cx="14143569" cy="10141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 study aims to achieve?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Extract and analyze 30 discriminative features from URL, domain, and HTML/JS content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Implement four classifiers: Logistic Regression, Decision Tree, Random Forest, and SVM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Evaluate using accuracy, precision, recall, F1-score, and AUC-ROC.</a:t>
            </a:r>
            <a:endParaRPr lang="en-IN" sz="200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Identify the most discriminative features using Random Forest importance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Build an interactive browser-based demo for real-time URL analysis.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555555"/>
                </a:solidFill>
              </a:rPr>
              <a:t>UCI Phishing Websites Dataset — 11,055 labeled samples, 30 features.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solidFill>
                  <a:srgbClr val="555555"/>
                </a:solidFill>
              </a:rPr>
              <a:t>Four classifiers trained under identical conditions (80/20 stratified split).</a:t>
            </a:r>
            <a:endParaRPr lang="en-US" sz="200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 </a:t>
            </a:r>
            <a:r>
              <a:rPr lang="en-US" sz="2000" dirty="0">
                <a:solidFill>
                  <a:srgbClr val="555555"/>
                </a:solidFill>
              </a:rPr>
              <a:t>Standard Scaler normalization for LR and SVM; raw features for tree models.</a:t>
            </a:r>
            <a:endParaRPr lang="en-US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 </a:t>
            </a:r>
            <a:r>
              <a:rPr lang="en-US" sz="2000" dirty="0">
                <a:solidFill>
                  <a:srgbClr val="555555"/>
                </a:solidFill>
              </a:rPr>
              <a:t>5-fold stratified cross-validation for hyperparameter tuning.</a:t>
            </a:r>
            <a:endParaRPr lang="en-US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 Interactive HTML/JS demo — runs in browser, no server needed.</a:t>
            </a:r>
            <a:endParaRPr lang="en-US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AC7CF1-FA11-A6B7-1E62-68638886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13E4238-E50A-37FF-C1F9-FE068B560D9E}"/>
              </a:ext>
            </a:extLst>
          </p:cNvPr>
          <p:cNvSpPr txBox="1"/>
          <p:nvPr/>
        </p:nvSpPr>
        <p:spPr>
          <a:xfrm>
            <a:off x="116774" y="939605"/>
            <a:ext cx="13515278" cy="1114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METHEDOLOGY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FRAMEWORK AND APPROACH: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/>
              <a:t>1. Dataset:</a:t>
            </a:r>
          </a:p>
          <a:p>
            <a:r>
              <a:rPr lang="en-US" sz="2000" dirty="0">
                <a:solidFill>
                  <a:srgbClr val="555555"/>
                </a:solidFill>
              </a:rPr>
              <a:t>UCI Phishing Websites Dataset — 11,055 samples (51.7% phishing, 48.3% legitimate), 30 pre-encoded features with no missing values.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b="1" dirty="0"/>
              <a:t>2. </a:t>
            </a:r>
            <a:r>
              <a:rPr lang="en-US" sz="2000" b="1" dirty="0">
                <a:solidFill>
                  <a:srgbClr val="1A1A1A"/>
                </a:solidFill>
              </a:rPr>
              <a:t>. Feature Engineering:</a:t>
            </a:r>
          </a:p>
          <a:p>
            <a:r>
              <a:rPr lang="en-US" sz="2000" dirty="0">
                <a:solidFill>
                  <a:srgbClr val="555555"/>
                </a:solidFill>
              </a:rPr>
              <a:t>30 features across three categories: URL-based (length, IP in URL, @ symbol, subdomains), Domain-based (age, DNS, Alexa rank), and HTML/JS ( I frames, right-click disabled).</a:t>
            </a:r>
            <a:endParaRPr lang="en-IN" sz="2000" dirty="0"/>
          </a:p>
          <a:p>
            <a:r>
              <a:rPr lang="en-IN" sz="2000" b="1" dirty="0"/>
              <a:t>3. </a:t>
            </a:r>
            <a:r>
              <a:rPr lang="en-US" sz="2000" b="1" dirty="0">
                <a:solidFill>
                  <a:srgbClr val="1A1A1A"/>
                </a:solidFill>
              </a:rPr>
              <a:t>Preprocessing</a:t>
            </a:r>
            <a:r>
              <a:rPr lang="en-IN" sz="2000" b="1" dirty="0"/>
              <a:t>:</a:t>
            </a:r>
          </a:p>
          <a:p>
            <a:r>
              <a:rPr lang="en-US" sz="2000" dirty="0">
                <a:solidFill>
                  <a:srgbClr val="555555"/>
                </a:solidFill>
              </a:rPr>
              <a:t>Standard Scaler normalization applied for LR and SVM. Tree-based models (DT, RF) used raw encoded features directly.</a:t>
            </a:r>
            <a:endParaRPr lang="en-IN" sz="2000" dirty="0"/>
          </a:p>
          <a:p>
            <a:r>
              <a:rPr lang="en-IN" sz="2000" b="1" dirty="0"/>
              <a:t>4. </a:t>
            </a:r>
            <a:r>
              <a:rPr lang="en-US" sz="2000" b="1" dirty="0">
                <a:solidFill>
                  <a:srgbClr val="1A1A1A"/>
                </a:solidFill>
              </a:rPr>
              <a:t>Training &amp; Tuning:</a:t>
            </a:r>
          </a:p>
          <a:p>
            <a:r>
              <a:rPr lang="en-US" sz="2000" dirty="0">
                <a:solidFill>
                  <a:srgbClr val="555555"/>
                </a:solidFill>
              </a:rPr>
              <a:t>80/20 stratified split (8,844 train / 2,211 test). 5-fold cross-validation for hyperparameter search. SVM: C=10, γ=scale selected via grid search.</a:t>
            </a:r>
            <a:endParaRPr lang="en-IN" sz="2000" dirty="0"/>
          </a:p>
          <a:p>
            <a:r>
              <a:rPr lang="en-IN" sz="2000" b="1" dirty="0"/>
              <a:t>5. </a:t>
            </a:r>
            <a:r>
              <a:rPr lang="en-US" sz="2000" b="1" dirty="0">
                <a:solidFill>
                  <a:srgbClr val="1A1A1A"/>
                </a:solidFill>
              </a:rPr>
              <a:t>Evaluation</a:t>
            </a:r>
            <a:r>
              <a:rPr lang="en-IN" sz="2000" b="1" dirty="0"/>
              <a:t>:</a:t>
            </a:r>
          </a:p>
          <a:p>
            <a:r>
              <a:rPr lang="en-US" sz="2000" b="1" dirty="0">
                <a:solidFill>
                  <a:srgbClr val="1A1A1A"/>
                </a:solidFill>
              </a:rPr>
              <a:t>: </a:t>
            </a:r>
            <a:r>
              <a:rPr lang="en-US" sz="2000" dirty="0">
                <a:solidFill>
                  <a:srgbClr val="555555"/>
                </a:solidFill>
              </a:rPr>
              <a:t>Accuracy, Precision, Recall, F1-Score, Confusion Matrix, and AUC-ROC computed on the same held-out test set for all four classifiers.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rgbClr val="0D2B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D2B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56484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AAFC94-CF58-D31D-9351-ADEBECE5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xmlns="" id="{6C8441AC-F4FE-2B99-1944-BCEEF4AA2268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xmlns="" id="{E5AFBDAE-4BD2-D08E-2AF0-8A0877790F4C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xmlns="" id="{C47FFB06-FA5A-9C14-1391-821DFCF08701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xmlns="" id="{785DF1E4-0404-6291-3894-0AE3E72D52CF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xmlns="" id="{B9CB2DE3-91E5-5E1E-7D16-7CB646BA15EB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xmlns="" id="{30EDEC68-1B2B-FB8F-9B3E-6FB38A06226A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4D9C2C9-235B-59F8-1F6C-C9562A1A1C18}"/>
              </a:ext>
            </a:extLst>
          </p:cNvPr>
          <p:cNvSpPr txBox="1"/>
          <p:nvPr/>
        </p:nvSpPr>
        <p:spPr>
          <a:xfrm>
            <a:off x="305410" y="1157906"/>
            <a:ext cx="12760504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TOOLS AND TECHNOLOGIES:</a:t>
            </a:r>
          </a:p>
          <a:p>
            <a:endParaRPr lang="en-US" sz="2800" b="1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FCDB75A-4C1D-6489-2B18-8DF64F86E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85" y="2124937"/>
            <a:ext cx="13123839" cy="494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2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C072DEE-D2C7-D179-7390-9E30335D9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xmlns="" id="{32A4A505-36EF-5807-940A-6DAEEA14F340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xmlns="" id="{E034784F-C1F6-178B-AA2A-5E2B7087C861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xmlns="" id="{5DC81259-2A31-6C4E-2632-E57695EF0CB1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xmlns="" id="{B93049E3-10B6-0F52-B50A-B0BDB15D12F8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xmlns="" id="{8E2432D1-5E47-F6FA-A06D-97F5BB5D93C7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xmlns="" id="{303F4A42-D02D-9519-62DD-C94D63D44382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531F874-5E22-BE3E-1F8C-928087061510}"/>
              </a:ext>
            </a:extLst>
          </p:cNvPr>
          <p:cNvSpPr txBox="1"/>
          <p:nvPr/>
        </p:nvSpPr>
        <p:spPr>
          <a:xfrm>
            <a:off x="180149" y="1113157"/>
            <a:ext cx="1276050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F223FB9-97D6-D672-83CD-2892DCD2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82" y="2242876"/>
            <a:ext cx="13368760" cy="487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74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0093EB-5E2A-55B5-7F15-E09B57D8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xmlns="" id="{749B5BBB-867B-3373-4370-C7D4516CA40E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xmlns="" id="{91A891F3-37EE-FF4C-16FA-80DA9D1D7D0D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xmlns="" id="{4C973353-E118-6F3B-5920-9E0FC6330A51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xmlns="" id="{9E503EC4-B94B-5019-FACB-4B56EDE69C9B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xmlns="" id="{235A8420-71DF-2819-3797-8FF76590D5D0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xmlns="" id="{14B96A47-5F13-0B01-B074-F9B40AE8E713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5044100-4074-528C-C46F-B90C847DA760}"/>
              </a:ext>
            </a:extLst>
          </p:cNvPr>
          <p:cNvSpPr txBox="1"/>
          <p:nvPr/>
        </p:nvSpPr>
        <p:spPr>
          <a:xfrm>
            <a:off x="92467" y="1238417"/>
            <a:ext cx="12760504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F4BA736-68DE-6C43-F900-343B14267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36" y="2037144"/>
            <a:ext cx="13265860" cy="517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7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DB21413-3354-D62C-DF80-69888F16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xmlns="" id="{53303185-7B14-02A7-5D58-7CBD56491024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xmlns="" id="{E66A6F5C-EF64-C4A4-53FD-DFC0DC6DD3D2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xmlns="" id="{396320E4-4452-E7BC-5B1E-84354E7313E3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xmlns="" id="{D59E702C-3101-5D70-DE94-AABB37CA869F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xmlns="" id="{8524FB94-B030-75B7-187D-34B358D793F0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xmlns="" id="{583DC8EC-1D8E-41CB-760B-ACE877FFBC6B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E15103B-4923-6DE2-84C5-C15409946917}"/>
              </a:ext>
            </a:extLst>
          </p:cNvPr>
          <p:cNvSpPr txBox="1"/>
          <p:nvPr/>
        </p:nvSpPr>
        <p:spPr>
          <a:xfrm>
            <a:off x="244867" y="1133642"/>
            <a:ext cx="1276050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 :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E1F3CDC-62BE-83AB-7F78-F582BA7FE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62" y="1840375"/>
            <a:ext cx="13158562" cy="587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2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D21343-5C51-EC3D-2BDC-B38EE457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xmlns="" id="{F365A4D3-5192-0986-7251-AA42674EE9AA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xmlns="" id="{2E4985FA-A746-3A6E-DDB0-C8AECBCE8098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xmlns="" id="{391C7B0E-6C3C-4957-C1D4-2AA88FAB9E9A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xmlns="" id="{653E21AF-588D-0FE6-7C5C-E7CD695900F0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xmlns="" id="{C1AD95E8-0676-7B7E-7A81-9A842A5DC5C9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xmlns="" id="{4AEC5B63-6873-1181-004F-5A6056448A55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CBE1EAC-63A5-ED26-EA15-FC413B1268BD}"/>
              </a:ext>
            </a:extLst>
          </p:cNvPr>
          <p:cNvSpPr txBox="1"/>
          <p:nvPr/>
        </p:nvSpPr>
        <p:spPr>
          <a:xfrm>
            <a:off x="146304" y="1128245"/>
            <a:ext cx="13181744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sz="2400" dirty="0">
                <a:solidFill>
                  <a:srgbClr val="555555"/>
                </a:solidFill>
              </a:rPr>
              <a:t> 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achieved 97% accuracy, 96% precision, 96% recall, 96% F1-score, and AUC = 0.99 — best among all four classifiers.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methods clearly outperform individual classifiers (LR: 92%, DT: 95%, SVM: 94%) for     phishing detection.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does not require real-time page rendering or external blacklist queries — computationally efficient for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discriminative features: URL Length, IP in URL, HTTPS token in domain, domain age, and web traffic rank.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FUTURE WORK: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 XG Boost and Light GBM ensemble methods for improved accuracy and faster inference.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 Bidirectional LSTM and Transformer models for character-level URL sequence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and deploy a real-time browser extension using the trained Random Forest model</a:t>
            </a:r>
            <a:r>
              <a:rPr lang="en-US" sz="2400" dirty="0">
                <a:solidFill>
                  <a:srgbClr val="555555"/>
                </a:solidFill>
              </a:rPr>
              <a:t>.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/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594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ppt</Template>
  <TotalTime>586</TotalTime>
  <Words>545</Words>
  <Application>Microsoft Office PowerPoint</Application>
  <PresentationFormat>Custom</PresentationFormat>
  <Paragraphs>213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ACER</cp:lastModifiedBy>
  <cp:revision>31</cp:revision>
  <dcterms:created xsi:type="dcterms:W3CDTF">2025-08-06T19:24:49Z</dcterms:created>
  <dcterms:modified xsi:type="dcterms:W3CDTF">2026-05-14T09:33:57Z</dcterms:modified>
</cp:coreProperties>
</file>